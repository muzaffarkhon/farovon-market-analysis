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Главное сообщение для CEO: система превращает разрозненные оценки в проверяемые факты. Для тех, кто вносит данные: два понятных шага, защита от ошибок, ваша работа влияет на решения.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Пять проблем, которые решает система. Подчеркнуть первую и третью: нет общей картины и нет фактов для решения.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Пять модулей: сбор, дашборд, бенчмаркинг, оценка должностей, ключевые сотрудники. Плюс администрирование: оргструктура, справочники, роли, период, журнал.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Шаг первый: участники рынка. Отметки определяют, с кем сравниваем данный отдел. На макете можно показать счётчик «9 из 12 отмечено».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Шаг второй: данные по рынку. Обратить внимание на красную подсказку: ошибка ловится при вводе, а не в аналитике.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Три экрана мобильной версии сбора: мои подразделения, участники рынка, анкета должности.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Аналитика адаптирована для телефона: таблицы стали карточками, показатели идут по два в ряд, справочные панели выезжают шторкой.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Экран для руководителя направления и C&amp;B. Закрытие кампании контролируется одним взглядом.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Реальный экран дашборда: медиана рынка, самые массовые должности, топ компаний-источников и подсказка «Гэп к рынку», когда оклад Фаровон ещё не задан.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Идея: цифре одного источника нельзя доверять безоговорочно. Система сводит источники в один результат с настраиваемыми весами.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Пример: оклад Фаровон 6 600 при медиане рынка 7 150 — на 8% ниже рынка. Цифры демонстрационные.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Четыре индустриальных блока: Производство, Стройка, Торговля, Офис. Блок — это физическое место работы, отдельно от функциональной группы должности.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Для должностей, где раньше были расхождения, система подсказывает это в анкете, но не подставляет баллы за эксперта.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Руководство сразу видит, где высокий риск и кому нужен план преемственности.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Права выдаются гибко через настройку ролей. Вход через Telegram.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Готово к работе: перечисленные модули. Ближайшие шаги: сопоставление, веса, грейды Korn Ferry, годовая история.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Завершение. Если спросят о реальных цифрах: на слайдах демонстрационные данные, реальные сводки в системе и у C&amp;B.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4630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Farovon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103120"/>
            <a:ext cx="10241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Рынок труда и вознаграждений в одной системе</a:t>
            </a:r>
            <a:endParaRPr lang="en-US" sz="5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297680"/>
            <a:ext cx="8686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 разрозненных таблиц к проверяемым фактам для решений по оплате труда и удержанию людей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60350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Встреча с CEO-1  ·  руководство, HR BP, C&amp;B, ответственные за сбор данных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Решения по окладам принимаются без единой картины рынка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356616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F172A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822960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42316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Нет единой картины рынка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83464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Оклады конкурентов известны фрагментарно, у каждого руководителя своя цифра.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297680" y="1600200"/>
            <a:ext cx="356616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F172A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72000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200" dirty="0"/>
          </a:p>
        </p:txBody>
      </p:sp>
      <p:sp>
        <p:nvSpPr>
          <p:cNvPr id="9" name="Text 7"/>
          <p:cNvSpPr txBox="1"/>
          <p:nvPr/>
        </p:nvSpPr>
        <p:spPr>
          <a:xfrm>
            <a:off x="4572000" y="242316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Данные несопоставимы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283464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Разные валюты, периодичность выплат, премии и льготы скрывают реальную разницу.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046720" y="1600200"/>
            <a:ext cx="356616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F172A">
                <a:alpha val="12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8321040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32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42316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Решения без фактов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283464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Трудно ответить: мы платим ниже рынка или в рынке, и на сколько.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3977640"/>
            <a:ext cx="356616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F172A">
                <a:alpha val="12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822960" y="4206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32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480060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Нет прозрачных грейдов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521208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Одинаковые должности оценивались по-разному на разных площадках.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297680" y="3977640"/>
            <a:ext cx="356616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F172A">
                <a:alpha val="12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4572000" y="4206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32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0" y="480060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Неясны риски потери людей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0" y="521208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видно, где уход одного сотрудника опаснее всего для бизнеса.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8046720" y="4206240"/>
            <a:ext cx="3566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Итог: без общей базы фактов пересмотр окладов остаётся спором мнений.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Одна система вместо разрозненных таблиц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548640" y="2697480"/>
            <a:ext cx="2103120" cy="2743200"/>
          </a:xfrm>
          <a:prstGeom prst="roundRect">
            <a:avLst>
              <a:gd name="adj" fmla="val 5217"/>
            </a:avLst>
          </a:prstGeom>
          <a:solidFill>
            <a:srgbClr val="EFF6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F172A">
                <a:alpha val="1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777240" y="288036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342900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Сбор данных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4069080"/>
            <a:ext cx="1645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Ответственные вносят, что платят конкурентные компании за должности отдела.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834640" y="2697480"/>
            <a:ext cx="2103120" cy="27432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F172A">
                <a:alpha val="12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3063240" y="288036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3063240" y="342900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Дашборд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3063240" y="4069080"/>
            <a:ext cx="1645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Вилки окладов рынка, отклонение Фаровон от рынка, рейтинг льгот и премий.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120640" y="2697480"/>
            <a:ext cx="2103120" cy="2743200"/>
          </a:xfrm>
          <a:prstGeom prst="roundRect">
            <a:avLst>
              <a:gd name="adj" fmla="val 5217"/>
            </a:avLst>
          </a:prstGeom>
          <a:solidFill>
            <a:srgbClr val="EFF6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F172A">
                <a:alpha val="12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5349240" y="288036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600" dirty="0"/>
          </a:p>
        </p:txBody>
      </p:sp>
      <p:sp>
        <p:nvSpPr>
          <p:cNvPr id="19" name="Text 17"/>
          <p:cNvSpPr txBox="1"/>
          <p:nvPr/>
        </p:nvSpPr>
        <p:spPr>
          <a:xfrm>
            <a:off x="5349240" y="342900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Бенчмаркинг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5349240" y="4069080"/>
            <a:ext cx="1645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Сравнение с внешними обзорами и джоб-сайтами в сомони и общем периоде.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406640" y="2697480"/>
            <a:ext cx="2103120" cy="27432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F172A">
                <a:alpha val="12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7635240" y="288036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600" dirty="0"/>
          </a:p>
        </p:txBody>
      </p:sp>
      <p:sp>
        <p:nvSpPr>
          <p:cNvPr id="23" name="Text 21"/>
          <p:cNvSpPr txBox="1"/>
          <p:nvPr/>
        </p:nvSpPr>
        <p:spPr>
          <a:xfrm>
            <a:off x="7635240" y="342900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Оценка должностей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7635240" y="4069080"/>
            <a:ext cx="1645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Слепая коллегиальная оценка по четырём индустриальным блокам.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9692640" y="2697480"/>
            <a:ext cx="2103120" cy="2743200"/>
          </a:xfrm>
          <a:prstGeom prst="roundRect">
            <a:avLst>
              <a:gd name="adj" fmla="val 5217"/>
            </a:avLst>
          </a:prstGeom>
          <a:solidFill>
            <a:srgbClr val="EFF6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F172A">
                <a:alpha val="12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9921240" y="288036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600" dirty="0"/>
          </a:p>
        </p:txBody>
      </p:sp>
      <p:sp>
        <p:nvSpPr>
          <p:cNvPr id="27" name="Text 25"/>
          <p:cNvSpPr txBox="1"/>
          <p:nvPr/>
        </p:nvSpPr>
        <p:spPr>
          <a:xfrm>
            <a:off x="9921240" y="342900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Ключевые сотрудники</a:t>
            </a:r>
            <a:endParaRPr lang="en-US" sz="1700" dirty="0"/>
          </a:p>
        </p:txBody>
      </p:sp>
      <p:sp>
        <p:nvSpPr>
          <p:cNvPr id="28" name="Text 26"/>
          <p:cNvSpPr txBox="1"/>
          <p:nvPr/>
        </p:nvSpPr>
        <p:spPr>
          <a:xfrm>
            <a:off x="9921240" y="4069080"/>
            <a:ext cx="1645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Риски незаменимости и тепловая карта: где потеря человека больнее всего.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Шаг 1. Данные собирают те, кто знает рынок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45920"/>
            <a:ext cx="36576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Ответственный отмечает каждую компанию: «Актуально», «Не актуально» или «Требует уточнения»</a:t>
            </a:r>
            <a:endParaRPr lang="en-US" sz="17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Сравниваемся только с теми, кто реально конкурирует за людей этого отдела</a:t>
            </a:r>
            <a:endParaRPr lang="en-US" sz="17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Есть быстрая отметка всех, поиск и заметки к спорным компаниям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4498848" y="1572768"/>
            <a:ext cx="7187184" cy="45125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F172A">
                <a:alpha val="12000"/>
              </a:srgbClr>
            </a:outerShdw>
          </a:effectLst>
        </p:spPr>
      </p:sp>
      <p:pic>
        <p:nvPicPr>
          <p:cNvPr id="5" name="Image 0" descr="C:/Users/Acer/projects/farovon-market-analysis/docs/presentation/mockups/01-sbor-shag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26280" y="1600200"/>
            <a:ext cx="7132320" cy="44577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26280" y="614934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Реальный интерфейс · тестовые данные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Шаг 2. По каждой должности: оклад, премия, льготы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45920"/>
            <a:ext cx="36576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Оклад от и до, валюта, периодичность, размер и тип премии, льготы, надёжность источника</a:t>
            </a:r>
            <a:endParaRPr lang="en-US" sz="17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Система не даёт сохранить оклад «от» больше, чем «до»</a:t>
            </a:r>
            <a:endParaRPr lang="en-US" sz="17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Прогресс заполнения обновляется сразу, черновик не теряется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4498848" y="1572768"/>
            <a:ext cx="7187184" cy="45125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F172A">
                <a:alpha val="12000"/>
              </a:srgbClr>
            </a:outerShdw>
          </a:effectLst>
        </p:spPr>
      </p:sp>
      <p:pic>
        <p:nvPicPr>
          <p:cNvPr id="5" name="Image 0" descr="C:/Users/Acer/projects/farovon-market-analysis/docs/presentation/mockups/02-sbor-shag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26280" y="1600200"/>
            <a:ext cx="7132320" cy="44577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26280" y="614934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Реальный интерфейс · тестовые данные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Заполнять можно с телефона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45920"/>
            <a:ext cx="32918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Работает в Telegram и в браузере телефона</a:t>
            </a:r>
            <a:endParaRPr lang="en-US" sz="16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Внизу плавающая панель разделов вместо верхнего меню</a:t>
            </a:r>
            <a:endParaRPr lang="en-US" sz="16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Черновик сохраняется на устройстве при обрыве связи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995928" y="1572768"/>
            <a:ext cx="7690104" cy="4826889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F172A">
                <a:alpha val="12000"/>
              </a:srgbClr>
            </a:outerShdw>
          </a:effectLst>
        </p:spPr>
      </p:sp>
      <p:pic>
        <p:nvPicPr>
          <p:cNvPr id="5" name="Image 0" descr="C:/Users/Acer/projects/farovon-market-analysis/docs/presentation/mockups/08-mobi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23360" y="1600200"/>
            <a:ext cx="7635240" cy="477202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023360" y="6463665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Реальный интерфейс · тестовые данные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Руководителю всё под рукой и на телефоне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21208" y="1435608"/>
            <a:ext cx="5541264" cy="34838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F172A">
                <a:alpha val="12000"/>
              </a:srgbClr>
            </a:outerShdw>
          </a:effectLst>
        </p:spPr>
      </p:sp>
      <p:pic>
        <p:nvPicPr>
          <p:cNvPr id="4" name="Image 0" descr="C:/Users/Acer/projects/farovon-market-analysis/docs/presentation/mockups/09-mobil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3040"/>
            <a:ext cx="5486400" cy="34290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4983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Реальный интерфейс · тестовые данные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126480" y="1435608"/>
            <a:ext cx="5541264" cy="34838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F172A">
                <a:alpha val="12000"/>
              </a:srgbClr>
            </a:outerShdw>
          </a:effectLst>
        </p:spPr>
      </p:sp>
      <p:pic>
        <p:nvPicPr>
          <p:cNvPr id="7" name="Image 1" descr="C:/Users/Acer/projects/farovon-market-analysis/docs/presentation/mockups/10-mobile-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3912" y="1463040"/>
            <a:ext cx="5486400" cy="34290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153912" y="4983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Реальный интерфейс · тестовые данные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553212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Слева: ход сбора по подразделению. Справа: дашборд с медианой рынка и вилками.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Руководство видит ход кампании в реальном времени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45920"/>
            <a:ext cx="36576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Сводка по HR BP и дирекциям: сколько заполнено, сколько в работе, где нужно напомнить</a:t>
            </a:r>
            <a:endParaRPr lang="en-US" sz="17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Воронка от назначения ответственных до отправки итога</a:t>
            </a:r>
            <a:endParaRPr lang="en-US" sz="17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Напоминания уходят в Telegram прямо из системы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4498848" y="1572768"/>
            <a:ext cx="7187184" cy="45125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F172A">
                <a:alpha val="12000"/>
              </a:srgbClr>
            </a:outerShdw>
          </a:effectLst>
        </p:spPr>
      </p:sp>
      <p:pic>
        <p:nvPicPr>
          <p:cNvPr id="5" name="Image 0" descr="C:/Users/Acer/projects/farovon-market-analysis/docs/presentation/mockups/03-progre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26280" y="1600200"/>
            <a:ext cx="7132320" cy="44577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26280" y="614934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Реальный интерфейс · тестовые данные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Зарплатные вилки показывают, где мы относительно рынка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45920"/>
            <a:ext cx="36576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 должности: минимум, нижний квартиль, медиана, верхний квартиль, максимум</a:t>
            </a:r>
            <a:endParaRPr lang="en-US" sz="16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Отдельно: на сколько процентов Фаровон выше или ниже медианы</a:t>
            </a:r>
            <a:endParaRPr lang="en-US" sz="16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Рейтинг льгот показывает, чем реально конкурируют работодатели</a:t>
            </a:r>
            <a:endParaRPr lang="en-US" sz="16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Любой срез выгружается в таблицу в один клик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498848" y="1572768"/>
            <a:ext cx="7187184" cy="45125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F172A">
                <a:alpha val="12000"/>
              </a:srgbClr>
            </a:outerShdw>
          </a:effectLst>
        </p:spPr>
      </p:sp>
      <p:pic>
        <p:nvPicPr>
          <p:cNvPr id="5" name="Image 0" descr="C:/Users/Acer/projects/farovon-market-analysis/docs/presentation/mockups/04-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26280" y="1600200"/>
            <a:ext cx="7132320" cy="44577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26280" y="614934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Реальный интерфейс · тестовые данные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Несколько источников вместо одной цифры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448056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F172A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822960" y="173736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Внутренний сбор HR BP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19456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Данные, внесённые ответственными по подразделениям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3063240"/>
            <a:ext cx="448056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F172A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22960" y="324612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Платные обзоры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7033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B1, Antal и другие, загружаются из Excel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4572000"/>
            <a:ext cx="448056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F172A">
                <a:alpha val="1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822960" y="475488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Джоб-сайты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52120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Средние значения по вакансиям рынка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257800" y="2926080"/>
            <a:ext cx="914400" cy="640080"/>
          </a:xfrm>
          <a:prstGeom prst="rightArrow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00800" y="1554480"/>
            <a:ext cx="5212080" cy="4206240"/>
          </a:xfrm>
          <a:prstGeom prst="roundRect">
            <a:avLst>
              <a:gd name="adj" fmla="val 2609"/>
            </a:avLst>
          </a:prstGeom>
          <a:solidFill>
            <a:srgbClr val="EFF6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F172A">
                <a:alpha val="12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766560" y="182880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Взвешенный результат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6766560" y="2468880"/>
            <a:ext cx="44805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Значения приводятся к сомони по онлайн-курсу и к общему периоду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Вес источника настраивается: надёжнее — выше, менее надёжные — ниже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Вес задаётся для всех должностей сразу или для одной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Платные данные видят только C&amp;B и администратор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 каждой должности вердикт, а не просто таблица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45920"/>
            <a:ext cx="36576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Вердикт простыми словами: «в рынке», «ниже», «выше»</a:t>
            </a:r>
            <a:endParaRPr lang="en-US" sz="17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Compa-ratio: отношение нашего оклада к рынку, норма от 0,90 до 1,10</a:t>
            </a:r>
            <a:endParaRPr lang="en-US" sz="17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Единая шкала: где мы и где рынок, отклонение в процентах и в сомони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4498848" y="1572768"/>
            <a:ext cx="7187184" cy="45125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F172A">
                <a:alpha val="12000"/>
              </a:srgbClr>
            </a:outerShdw>
          </a:effectLst>
        </p:spPr>
      </p:sp>
      <p:pic>
        <p:nvPicPr>
          <p:cNvPr id="5" name="Image 0" descr="C:/Users/Acer/projects/farovon-market-analysis/docs/presentation/mockups/05-bench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26280" y="1600200"/>
            <a:ext cx="7132320" cy="44577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26280" y="614934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Реальный интерфейс · тестовые данные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Оценка должностей: четыре блока и независимая комиссия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645920"/>
            <a:ext cx="26517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F172A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Производство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383280" y="1645920"/>
            <a:ext cx="26517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F172A">
                <a:alpha val="12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3657600" y="1645920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Стройка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217920" y="1645920"/>
            <a:ext cx="26517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F172A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492240" y="1645920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Торговля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9052560" y="1645920"/>
            <a:ext cx="2651760" cy="1371600"/>
          </a:xfrm>
          <a:prstGeom prst="roundRect">
            <a:avLst>
              <a:gd name="adj" fmla="val 8000"/>
            </a:avLst>
          </a:prstGeom>
          <a:solidFill>
            <a:srgbClr val="EFF6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F172A">
                <a:alpha val="1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9326880" y="1645920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Офис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32918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Блок определяется местом работы. Одна оценка действует на должность во всех подразделениях блока.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4114800"/>
            <a:ext cx="361188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F172A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22960" y="429768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Единые правила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75488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Одинаковые должности перестают оцениваться по-разному на разных площадках.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343400" y="4114800"/>
            <a:ext cx="361188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F172A">
                <a:alpha val="12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4617720" y="429768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Комиссия экспертов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4617720" y="475488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Каждый блок оценивает назначенная комиссия по короткой анкете из четырёх вопросов.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8138160" y="4114800"/>
            <a:ext cx="361188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F172A">
                <a:alpha val="12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8412480" y="429768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Итог как среднее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8412480" y="475488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Балл по каждому вопросу и общий балл считаются по независимым оценкам.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Слепая оценка исключает влияние авторитетов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45920"/>
            <a:ext cx="36576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Каждый эксперт заполняет анкету независимо</a:t>
            </a:r>
            <a:endParaRPr lang="en-US" sz="17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Чужие баллы скрыты, виден только прогресс «оценили N из M»</a:t>
            </a:r>
            <a:endParaRPr lang="en-US" sz="17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Итог — среднее по каждому вопросу и общий балл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4498848" y="1572768"/>
            <a:ext cx="7187184" cy="45125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F172A">
                <a:alpha val="12000"/>
              </a:srgbClr>
            </a:outerShdw>
          </a:effectLst>
        </p:spPr>
      </p:sp>
      <p:pic>
        <p:nvPicPr>
          <p:cNvPr id="5" name="Image 0" descr="C:/Users/Acer/projects/farovon-market-analysis/docs/presentation/mockups/06-grad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26280" y="1600200"/>
            <a:ext cx="7132320" cy="44577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26280" y="614934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Демонстрационные данные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Риски незаменимости видны на одной карте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45920"/>
            <a:ext cx="36576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Анкета из четырёх вопросов по каждому ключевому сотруднику</a:t>
            </a:r>
            <a:endParaRPr lang="en-US" sz="16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Тепловая карта: уровни должностей и индустриальные блоки, цвет показывает концентрацию риска</a:t>
            </a:r>
            <a:endParaRPr lang="en-US" sz="16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Список сотрудников, требующих внимания и плана преемственности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498848" y="1572768"/>
            <a:ext cx="7187184" cy="45125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F172A">
                <a:alpha val="12000"/>
              </a:srgbClr>
            </a:outerShdw>
          </a:effectLst>
        </p:spPr>
      </p:sp>
      <p:pic>
        <p:nvPicPr>
          <p:cNvPr id="5" name="Image 0" descr="C:/Users/Acer/projects/farovon-market-analysis/docs/presentation/mockups/07-risk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26280" y="1600200"/>
            <a:ext cx="7132320" cy="44577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26280" y="614934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Демонстрационные данные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Каждый видит только своё: роли и доступ</a:t>
            </a:r>
            <a:endParaRPr lang="en-US" sz="3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722376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Роль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видит и делает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Администратор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Полный доступ, настройка системы, роли и права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C&amp;B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Аналитика, бенчмаркинг, платные обзоры, оценка должностей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Руководитель направления, отдела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Свои подразделения и сводки, назначение ответственных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HR BP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Подразделения закреплённых дирекций и ход сбора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Ответственный сотрудник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Заполнение анкет по назначенным подразделениям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25780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Чувствительные данные (платные обзоры, оценки) закрыты по умолчанию. Все действия фиксируются в журнале.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уже работает и что дальше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5440680" cy="4480560"/>
          </a:xfrm>
          <a:prstGeom prst="roundRect">
            <a:avLst>
              <a:gd name="adj" fmla="val 2449"/>
            </a:avLst>
          </a:prstGeom>
          <a:solidFill>
            <a:srgbClr val="DCFCE7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F172A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868680" y="17830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Уже работает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68880"/>
            <a:ext cx="480060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Сбор данных по 326 подразделениям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Дашборд вилок и рейтинг льгот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Бенчмаркинг с несколькими источниками и загрузкой файлов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Оценка должностей с комиссией и слепой оценкой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Ключевые сотрудники, уведомления в Telegram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Верхнее меню на компьютере, плавающая панель на телефоне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217920" y="1554480"/>
            <a:ext cx="5440680" cy="4480560"/>
          </a:xfrm>
          <a:prstGeom prst="roundRect">
            <a:avLst>
              <a:gd name="adj" fmla="val 2449"/>
            </a:avLst>
          </a:prstGeom>
          <a:solidFill>
            <a:srgbClr val="EFF6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F172A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6537960" y="17830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Ближайшие шаги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6537960" y="2468880"/>
            <a:ext cx="480060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Сопоставить должности справочника с загруженными обзорами рынка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Уточнить веса источников по странам и подтвердить валюты обзоров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Ввести грейды Korn Ferry для верхних уровней должностей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Накопить историю по годам для сравнения «год к году»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нужно от каждого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5440680" cy="210312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68680" y="17830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Руководство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33172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Подтвердить срок закрытия периода и закрепить ответственность в дирекциях.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172200" y="1554480"/>
            <a:ext cx="5440680" cy="210312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92240" y="17830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 BP и ответственные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6492240" y="233172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Закрыть заполнение по подразделениям; спорные компании отмечать «Требует уточнения», а не оставлять пустыми.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3886200"/>
            <a:ext cx="5440680" cy="210312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68680" y="411480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Эксперты комиссии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868680" y="466344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Пройти слепую оценку в своём блоке в установленный срок.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172200" y="3886200"/>
            <a:ext cx="5440680" cy="210312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92240" y="411480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C&amp;B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6492240" y="466344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Подготовить итоговую сводку «Фаровон к рынку» для решений по окладам.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61722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Вопросы?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Farovon: рынок труда и вознаграждений в одной системе</dc:title>
  <dc:subject>PptxGenJS Presentation</dc:subject>
  <dc:creator>PptxGenJS</dc:creator>
  <cp:lastModifiedBy>PptxGenJS</cp:lastModifiedBy>
  <cp:revision>1</cp:revision>
  <dcterms:created xsi:type="dcterms:W3CDTF">2026-09-20T20:59:23Z</dcterms:created>
  <dcterms:modified xsi:type="dcterms:W3CDTF">2026-09-20T20:59:23Z</dcterms:modified>
</cp:coreProperties>
</file>