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 сообщение для CEO: система превращает разрозненные оценки в проверяемые факты. Для тех, кто вносит данные: два понятных шага, защита от ошибок, ваша работа влияет на решения.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проблем, которые решает система. Подчеркнуть первую и третью: нет общей картины и нет фактов для решения.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модулей: сбор, дашборд, бенчмаркинг, оценка должностей, ключевые сотрудники. Плюс администрирование: оргструктура, справочники, роли, период, журнал.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Шаг первый: участники рынка. Отметки определяют, с кем сравниваем данный отдел. На макете можно показать счётчик «9 из 12 отмечено».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Шаг второй: данные по рынку. Обратить внимание на красную подсказку: ошибка ловится при вводе, а не в аналитике.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экрана мобильной версии сбора: мои подразделения, участники рынка, анкета должности.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Аналитика адаптирована для телефона: таблицы стали карточками, показатели идут по два в ряд, справочные панели выезжают шторкой.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Экран для руководителя направления и C&amp;B. Закрытие кампании контролируется одним взглядом.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Синий блок — диапазон от 25-го до 75-го процентиля, тёмная риска — медиана, тонкая линия — минимум и максимум рынка.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Идея: цифре одного источника нельзя доверять безоговорочно. Система сводит источники в один результат с настраиваемыми весами.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Пример: оклад бухгалтера 6 900 при рынке 7 250 даёт compa-ratio 0,95 — в норме. Цифры демонстрационные.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индустриальных блока: Производство, Стройка, Торговля, Офис. Блок — это физическое место работы, отдельно от функциональной группы должности.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должностей, где раньше были расхождения, система подсказывает это в анкете, но не подставляет баллы за эксперта.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Руководство сразу видит, где высокий риск и кому нужен план преемственности.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Права выдаются гибко через настройку ролей. Вход через Telegram.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Готово к работе: перечисленные модули. Ближайшие шаги: сопоставление, веса, грейды Korn Ferry, годовая история.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Завершение. Если спросят о реальных цифрах: на слайдах демонстрационные данные, реальные сводки в системе и у C&amp;B.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Farovon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0312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труда и вознаграждений в одной системе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976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разрозненных таблиц к проверяемым фактам для решений по оплате труда и удержанию людей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Встреча с CEO-1  ·  руководство, HR BP, C&amp;B, ответственные за сбор данных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Решения по окладам принимаются без единой картины рынка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единой картины рынка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34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Оклады конкурентов известны фрагментарно, у каждого руководителя своя цифра.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60020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423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несопоставимы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834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Разные валюты, периодичность выплат, премии и льготы скрывают реальную разницу.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60020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210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423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Решения без фактов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834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Трудно ответить: мы платим ниже рынка или в рынке, и на сколько.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296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800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прозрачных грейдов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212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Одинаковые должности оценивались по-разному на разных площадках.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97680" y="397764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57200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4800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Неясны риски потери людей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5212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видно, где уход одного сотрудника опаснее всего для бизнеса.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0" y="420624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Итог: без общей базы фактов пересмотр окладов остаётся спором мнений.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система вместо разрозненных таблиц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326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подразделений в охвате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343400" y="13716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должностей-эталонов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138160" y="13716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источников данных рынка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2103120" cy="2743200"/>
          </a:xfrm>
          <a:prstGeom prst="roundRect">
            <a:avLst>
              <a:gd name="adj" fmla="val 5217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3474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0233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данных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66344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Ответственные вносят, что платят конкурентные компании за должности отдела.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34640" y="3291840"/>
            <a:ext cx="2103120" cy="27432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063240" y="3474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40233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466344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Вилки окладов рынка, отклонение Фаровон от рынка, рейтинг льгот и премий.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120640" y="3291840"/>
            <a:ext cx="2103120" cy="2743200"/>
          </a:xfrm>
          <a:prstGeom prst="roundRect">
            <a:avLst>
              <a:gd name="adj" fmla="val 5217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349240" y="3474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40233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Бенчмаркинг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466344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с внешними обзорами и джоб-сайтами в сомони и общем периоде.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406640" y="3291840"/>
            <a:ext cx="2103120" cy="27432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635240" y="3474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40233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должностей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635240" y="466344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Слепая коллегиальная оценка по четырём индустриальным блокам.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692640" y="3291840"/>
            <a:ext cx="2103120" cy="2743200"/>
          </a:xfrm>
          <a:prstGeom prst="roundRect">
            <a:avLst>
              <a:gd name="adj" fmla="val 5217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921240" y="3474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9921240" y="40233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сотрудники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921240" y="466344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Риски незаменимости и тепловая карта: где потеря человека больнее всего.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1. Данные собирают те, кто знает рынок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3657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Ответственный отмечает каждую компанию: «Актуально», «Не актуально» или «Требует уточнения»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Сравниваемся только с теми, кто реально конкурирует за людей этого отдела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быстрая отметка всех, поиск и заметки к спорным компаниям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498848" y="1572768"/>
            <a:ext cx="7187184" cy="45125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5" name="Image 0" descr="C:/Users/Acer/projects/farovon-market-analysis/docs/presentation/mockups/01-sbor-sha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600200"/>
            <a:ext cx="7132320" cy="44577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26280" y="61493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Демонстрационные данные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2. По каждой должности: оклад, премия, льготы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3657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Оклад от и до, валюта, периодичность, размер и тип премии, льготы, надёжность источника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не даёт сохранить оклад «от» больше, чем «до»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 заполнения обновляется сразу, черновик не теряется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498848" y="1572768"/>
            <a:ext cx="7187184" cy="45125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5" name="Image 0" descr="C:/Users/Acer/projects/farovon-market-analysis/docs/presentation/mockups/02-sbor-sha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600200"/>
            <a:ext cx="7132320" cy="44577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26280" y="61493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Демонстрационные данные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Заполнять можно с телефона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32918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в Telegram и в браузере телефона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Внизу плавающая панель разделов вместо верхнего меню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Черновик сохраняется на устройстве при обрыве связи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95928" y="1572768"/>
            <a:ext cx="7690104" cy="482688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5" name="Image 0" descr="C:/Users/Acer/projects/farovon-market-analysis/docs/presentation/mockups/08-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600200"/>
            <a:ext cx="7635240" cy="47720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023360" y="6463665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Демонстрационные данные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Руководителю всё под рукой и на телефоне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21208" y="1435608"/>
            <a:ext cx="5541264" cy="34838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4" name="Image 0" descr="C:/Users/Acer/projects/farovon-market-analysis/docs/presentation/mockups/09-mobil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486400" cy="3429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Демонстрационные данные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126480" y="1435608"/>
            <a:ext cx="5541264" cy="34838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7" name="Image 1" descr="C:/Users/Acer/projects/farovon-market-analysis/docs/presentation/mockups/10-mobile-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12" y="1463040"/>
            <a:ext cx="5486400" cy="34290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153912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Демонстрационные данные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Слева: ход сбора, дашборд, бенчмаркинг. Справа: оценка должностей, риски, меню «Ещё» с администрированием.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Руководство видит ход кампании в реальном времени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3657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Сводка по HR BP и дирекциям: сколько заполнено, сколько в работе, где нужно напомнить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Воронка от назначения ответственных до отправки итога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Напоминания уходят в Telegram прямо из системы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498848" y="1572768"/>
            <a:ext cx="7187184" cy="45125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5" name="Image 0" descr="C:/Users/Acer/projects/farovon-market-analysis/docs/presentation/mockups/03-progr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600200"/>
            <a:ext cx="7132320" cy="44577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26280" y="61493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Демонстрационные данные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Зарплатные вилки показывают, где мы относительно рынка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3657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должности: минимум, нижний квартиль, медиана, верхний квартиль, максимум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Отдельно: на сколько процентов Фаровон выше или ниже медианы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 льгот показывает, чем реально конкурируют работодатели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Любой срез выгружается в таблицу в один клик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98848" y="1572768"/>
            <a:ext cx="7187184" cy="45125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5" name="Image 0" descr="C:/Users/Acer/projects/farovon-market-analysis/docs/presentation/mockups/04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600200"/>
            <a:ext cx="7132320" cy="44577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26280" y="61493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Демонстрационные данные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источников вместо одной цифры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 сбор HR BP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Данные, внесённые ответственными по подразделениям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3246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Платные обзоры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033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B1, Antal и другие, загружаются из Excel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47548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Джоб-сайты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2120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Средние значения по вакансиям рынка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257800" y="2926080"/>
            <a:ext cx="914400" cy="640080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55448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766560" y="1828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Взвешенный результат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2468880"/>
            <a:ext cx="4480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Значения приводятся к сомони по онлайн-курсу и к общему периоду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 источника настраивается: надёжнее — выше, менее надёжные — ниже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 задаётся для всех должностей сразу или для одной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Платные данные видят только C&amp;B и администратор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каждой должности вердикт, а не просто таблица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3657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Вердикт простыми словами: «в рынке», «ниже», «выше»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Compa-ratio: отношение нашего оклада к рынку, норма от 0,90 до 1,10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шкала: где мы и где рынок, отклонение в процентах и в сомони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498848" y="1572768"/>
            <a:ext cx="7187184" cy="45125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5" name="Image 0" descr="C:/Users/Acer/projects/farovon-market-analysis/docs/presentation/mockups/05-bench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600200"/>
            <a:ext cx="7132320" cy="44577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26280" y="61493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Демонстрационные данные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должностей: четыре блока и независимая комиссия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Производство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383280" y="16459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3657600" y="1645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Стройка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92240" y="1645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Торговля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052560" y="16459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326880" y="164592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Офис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2918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определяется местом работы. Одна оценка действует на должность во всех подразделениях блока.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4297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Единые правила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7548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Одинаковые должности перестают оцениваться по-разному на разных площадках.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43400" y="411480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617720" y="4297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Комиссия экспертов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47548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блок оценивает назначенная комиссия по короткой анкете из четырёх вопросов.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38160" y="411480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412480" y="4297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как среднее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47548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Балл по каждому вопросу и общий балл считаются по независимым оценкам.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Слепая оценка исключает влияние авторитетов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3657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эксперт заполняет анкету независимо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Чужие баллы скрыты, виден только прогресс «оценили N из M»</a:t>
            </a:r>
            <a:endParaRPr lang="en-US" sz="17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— среднее по каждому вопросу и общий балл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498848" y="1572768"/>
            <a:ext cx="7187184" cy="45125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5" name="Image 0" descr="C:/Users/Acer/projects/farovon-market-analysis/docs/presentation/mockups/06-gra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600200"/>
            <a:ext cx="7132320" cy="44577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26280" y="61493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Демонстрационные данные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Риски незаменимости видны на одной карте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3657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Анкета из четырёх вопросов по каждому ключевому сотруднику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Тепловая карта: уровни должностей и индустриальные блоки, цвет показывает концентрацию риска</a:t>
            </a:r>
            <a:endParaRPr lang="en-US" sz="16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сотрудников, требующих внимания и плана преемственности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98848" y="1572768"/>
            <a:ext cx="7187184" cy="45125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pic>
        <p:nvPicPr>
          <p:cNvPr id="5" name="Image 0" descr="C:/Users/Acer/projects/farovon-market-analysis/docs/presentation/mockups/07-ri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600200"/>
            <a:ext cx="7132320" cy="44577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26280" y="61493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Демонстрационные данные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видит только своё: роли и доступ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237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Роль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видит и делает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Администратор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Полный доступ, настройка системы, роли и права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C&amp;B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Аналитика, бенчмаркинг, платные обзоры, оценка должностей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Руководитель направления, отдела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Свои подразделения и сводки, назначение ответственных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BP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Подразделения закреплённых дирекций и ход сбора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Ответственный сотрудник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Заполнение анкет по назначенным подразделениям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257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Чувствительные данные (платные обзоры, оценки) закрыты по умолчанию. Все действия фиксируются в журнале.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уже работает и что дальше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DCFCE7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Уже работает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800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данных по 326 подразделениям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 вилок и рейтинг льгот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Бенчмаркинг с несколькими источниками и загрузкой файлов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должностей с комиссией и слепой оценкой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сотрудники, уведомления в Telegram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Верхнее меню на компьютере, плавающая панель на телефоне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3796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Ближайшие шаги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468880"/>
            <a:ext cx="4800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Сопоставить должности справочника с загруженными обзорами рынка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Уточнить веса источников по странам и подтвердить валюты обзоров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Ввести грейды Korn Ferry для верхних уровней должностей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Накопить историю по годам для сравнения «год к году»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 от каждого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Руководство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3317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Подтвердить срок закрытия периода и закрепить ответственность в дирекциях.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2200" y="155448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BP и ответственные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3317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Закрыть заполнение по подразделениям; спорные компании отмечать «Требует уточнения», а не оставлять пустыми.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4114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Эксперты комиссии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6634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Пройти слепую оценку в своём блоке в установленный срок.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2200" y="388620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4114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C&amp;B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6634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Подготовить итоговую сводку «Фаровон к рынку» для решений по окладам.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Farovon: рынок труда и вознаграждений в одной системе</dc:title>
  <dc:subject>PptxGenJS Presentation</dc:subject>
  <dc:creator>PptxGenJS</dc:creator>
  <cp:lastModifiedBy>PptxGenJS</cp:lastModifiedBy>
  <cp:revision>1</cp:revision>
  <dcterms:created xsi:type="dcterms:W3CDTF">2026-09-20T20:59:23Z</dcterms:created>
  <dcterms:modified xsi:type="dcterms:W3CDTF">2026-09-20T20:59:23Z</dcterms:modified>
</cp:coreProperties>
</file>